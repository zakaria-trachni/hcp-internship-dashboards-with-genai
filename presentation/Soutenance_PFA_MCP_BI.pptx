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~0:30 — Slide titre. Se présenter, annoncer le sujet : une plateforme BI généraliste multi-agents orchestrée par MCP. Encadrant : Pr. Kerkri.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~0:20 — Annoncer le plan en 6 temps (contexte, objectifs, conception, réalisation, démo/étude de cas, conclusion).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~1:10 — Chaîne décisionnelle (de la donnée à la décision) et ses limites : manuelle, dépendante d'experts, répétitive, spécialisée. Poser la problématique.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~0:40 — Présenter les objectifs ; insister sur le « 0 hypothèse métier » (généralité, tout CSV/Excel/JSON).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~1:00 — État de l'art : LLM (puissants mais hallucinent), agents IA (rôles spécialisés), protocole MCP (registre d'outils + permissions), outils (Python, Plotly, FastAPI).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~1:00 — Architecture en couches : séparation des préoccupations ; le serveur MCP médie tous les accès aux capacités.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~1:00 — Les 7 agents et le moindre privilège ; exemple de l'agent KPI et de ses outils autorisés.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~1:00 — Le moteur déterministe adaptatif : profilage → KPIs → graphiques → insights. Division du travail (moteur = exactitude, agents = jugement) et anti-hallucination.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~0:45 — Fiabilité : filets de sécurité (livrables toujours complets), vérification des chiffres, suivi des coûts.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~3:30 — DÉMONSTRATION EN DIRECT : (1) téléverser un CSV, (2) suivre le pipeline des 7 agents, (3) explorer le tableau de bord + la carte mondiale, (4) ouvrir le rapport. Les aperçus de la slide servent de repli si besoin.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~0:45 — Étude de cas football : 17 769 matchs, aucune configuration, rôles détectés automatiquement (mesures, géo, date).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~1:00 — Résultats : anomalie 31-0 (record du monde), avantage du terrain (1,78 vs 1,48 but), et tous les chiffres du rapport vérifiés.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~0:30 — Qualité : 22 tests automatisés au vert, sans LLM (rapides et reproductibles).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~0:45 — Conclusion : objectifs atteints + perspectives (langage naturel, connecteurs de données, prédictif, industrialisation).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~0:15 — Remercier et ouvrir les questions. Total ≈ 14–15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akariae/Desktop/MCP-Powered BI Ecosystem/rapport/assets/entete_f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7200"/>
            <a:ext cx="1752996" cy="868680"/>
          </a:xfrm>
          <a:prstGeom prst="rect">
            <a:avLst/>
          </a:prstGeom>
        </p:spPr>
      </p:pic>
      <p:pic>
        <p:nvPicPr>
          <p:cNvPr id="3" name="Image 1" descr="/Users/zakariae/Desktop/MCP-Powered BI Ecosystem/rapport/assets/logo_ens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292608"/>
            <a:ext cx="1185428" cy="1280160"/>
          </a:xfrm>
          <a:prstGeom prst="rect">
            <a:avLst/>
          </a:prstGeom>
        </p:spPr>
      </p:pic>
      <p:pic>
        <p:nvPicPr>
          <p:cNvPr id="4" name="Image 2" descr="/Users/zakariae/Desktop/MCP-Powered BI Ecosystem/rapport/assets/entete_ara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457200"/>
            <a:ext cx="1789481" cy="8686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17556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École Nationale des Sciences Appliquées d'Oujda</a:t>
            </a:r>
            <a:endParaRPr lang="en-US" sz="2000" dirty="0"/>
          </a:p>
        </p:txBody>
      </p:sp>
      <p:sp>
        <p:nvSpPr>
          <p:cNvPr id="6" name="Text 1"/>
          <p:cNvSpPr/>
          <p:nvPr/>
        </p:nvSpPr>
        <p:spPr>
          <a:xfrm>
            <a:off x="548640" y="2322576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d'Année (PFA)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548640" y="2670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 : Ingénierie Data Science et Cloud Computing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2194560" y="3255264"/>
            <a:ext cx="7799832" cy="25603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9" name="Text 4"/>
          <p:cNvSpPr/>
          <p:nvPr/>
        </p:nvSpPr>
        <p:spPr>
          <a:xfrm>
            <a:off x="548640" y="33832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MCP-Powered BI Ecosystem</a:t>
            </a:r>
            <a:endParaRPr lang="en-US" sz="3400" dirty="0"/>
          </a:p>
        </p:txBody>
      </p:sp>
      <p:sp>
        <p:nvSpPr>
          <p:cNvPr id="10" name="Text 5"/>
          <p:cNvSpPr/>
          <p:nvPr/>
        </p:nvSpPr>
        <p:spPr>
          <a:xfrm>
            <a:off x="1463040" y="4133088"/>
            <a:ext cx="9262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décisionnelle généraliste multi-agents orchestrée par le protocole MCP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2194560" y="4663440"/>
            <a:ext cx="7799832" cy="25603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2" name="Text 7"/>
          <p:cNvSpPr/>
          <p:nvPr/>
        </p:nvSpPr>
        <p:spPr>
          <a:xfrm>
            <a:off x="731520" y="495604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Rouane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Zakariae Trachni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306824" y="495604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 du jury :</a:t>
            </a:r>
            <a:endParaRPr lang="en-US" sz="13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Asmae El Mezouari</a:t>
            </a:r>
            <a:endParaRPr lang="en-US" sz="13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Abdelmounaim Kerkri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7891272" y="495604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</a:t>
            </a:r>
            <a:endParaRPr lang="en-US" sz="1300" dirty="0"/>
          </a:p>
          <a:p>
            <a:pPr algn="r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Abdelmounaim Kerkri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2025 –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5819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&amp; problématique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110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automatiser la Business Intelligence 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86584"/>
            <a:ext cx="548640" cy="5486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86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23682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 &amp; état de l'art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697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 du projet ; LLM, agents et protocole MCP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17296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154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4838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couches, 7 agents, moteur adaptatif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59352"/>
            <a:ext cx="548640" cy="5486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394106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Réalisation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270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carte géographique, anomalies, fiabilité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745736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45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17320" y="47274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Démonstration &amp; étude de cas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50566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et 17 769 matchs de football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532120"/>
            <a:ext cx="548640" cy="5486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17320" y="55138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perspectives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5843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pistes d'évolution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&amp; problématique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D1FAF2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96312" y="15544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34640" y="1554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D1FAF2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5544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82312" y="15544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120640" y="1554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D1FAF2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5544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nettoyage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68312" y="15544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406640" y="1554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D1FAF2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15544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KPIs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54312" y="15544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692640" y="1554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15544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décision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2542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chaîne aujourd'hui largement manuelle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des outils BI classiques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347472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dépendance à l'expertise (analyste = goulot d'étranglement)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répétitif et chronophage à chaque nouveau jeu de données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spécialisées par cas d'usage (hypothèses figées)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du rapport entièrement humaine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040880" y="3200400"/>
            <a:ext cx="4572000" cy="2468880"/>
          </a:xfrm>
          <a:prstGeom prst="roundRect">
            <a:avLst>
              <a:gd name="adj" fmla="val 2963"/>
            </a:avLst>
          </a:prstGeom>
          <a:solidFill>
            <a:srgbClr val="EAF7F4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0" y="3474720"/>
            <a:ext cx="640080" cy="64008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8819" y="3628339"/>
            <a:ext cx="332842" cy="33284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09244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315200" y="416052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analyser automatiquement et de manière fiable n'importe quel jeu de données tabulaire, en combinant la rigueur d'un moteur déterministe et le discernement d'agents IA ?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 du projet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914400" cy="91440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768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65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multi-agents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20240" y="244144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agents orchestrés via un serveur MCP, à contrôle d'accès par rôle.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057400"/>
            <a:ext cx="914400" cy="91440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227685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1965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Moteur adaptatif généraliste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35240" y="244144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Profilage automatique des colonnes, sans hypothèse sur le domaine métier.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977640"/>
            <a:ext cx="914400" cy="91440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19709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3886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Livrables automatiques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20240" y="436168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interactif + rapport décisionnel (web &amp; PDF).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63640" y="361188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3977640"/>
            <a:ext cx="914400" cy="91440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4197096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3886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Fiabilité &amp; véracité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35240" y="436168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Filets de sécurité, vérification des chiffres, suivi des coûts.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pPr algn="ctr" indent="0" marL="0">
              <a:buNone/>
            </a:pPr>
            <a:r>
              <a:rPr lang="en-US" sz="15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hypothèse métier — fonctionne sur tout fichier CSV / Excel / JSON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L'ART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briques technologiques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94560"/>
            <a:ext cx="868680" cy="86868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240304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47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Grands modèles de langage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920240" y="244144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Raisonnement, synthèse et appel d'outils — mais sujets aux hallucinations.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6248" y="2194560"/>
            <a:ext cx="868680" cy="86868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731" y="240304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1947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d'IA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635240" y="244144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observer → décider → agir ; rôles spécialisés qui coopèrent.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160520"/>
            <a:ext cx="868680" cy="86868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731" y="436900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3913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Protocole MCP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920240" y="440740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ouvert : registre d'outils + contrôle d'accès pour les LLM.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63640" y="36576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6248" y="4160520"/>
            <a:ext cx="868680" cy="86868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731" y="436900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3913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Outils techniques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635240" y="440740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Plotly, FastAPI, fournisseurs LLM Groq / Ollama.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en couches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0" y="155448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0D9488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40280" y="155448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Couche présentation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029200" y="155448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FastAPI — téléversement, suivi, dashboard, rapport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806440" y="21214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2340864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D1FAF2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234086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Couche orchestration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0" y="2340864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filets de sécurité déterministes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06440" y="29077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3127248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D1FAF2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312724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Couche agents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029200" y="312724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agents spécialisés (Orchestrateur, Ingestion, Data Prep, KPI, …)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06440" y="36941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913632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047857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391363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Serveur MCP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029200" y="391363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 14 outils + contrôle d'accès par rôle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806440" y="44805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11680" y="4700016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D1FAF2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0280" y="470001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Moteur déterministe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029200" y="4700016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Profilage · KPIs · Graphiques · Insights · Validation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06440" y="52669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011680" y="548640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D1FAF2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548640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Magasin d'artefacts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029200" y="548640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 · report.html · state.json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des préoccupations : chaque couche évolue indépendamment ; le serveur MCP médie tous les accès.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Sept agents, un serveur MCP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D1FAF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6420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Orchestrateur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50545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160020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D1FAF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166420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21992" y="187452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176272" y="250545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03904" y="160020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D1FAF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3904" y="166420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9624" y="187452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03904" y="250545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31536" y="160020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D1FAF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166420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77256" y="187452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31536" y="250545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59168" y="160020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D1FAF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59168" y="166420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04888" y="187452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059168" y="250545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86800" y="160020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D1FAF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166420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32520" y="187452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686800" y="250545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314432" y="160020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D1FAF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14432" y="166420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60152" y="187452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314432" y="250545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28800" y="288036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047857"/>
          </a:solidFill>
          <a:ln/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828800" y="288036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Serveur MCP — 14 outils, contrôle d'accès par rôle (refus par défaut)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640" y="397764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EAF7F4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2960" y="4224528"/>
            <a:ext cx="640080" cy="64008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4378147"/>
            <a:ext cx="332842" cy="33284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600200" y="42611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Principe du moindre privilège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82296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agent ne peut appeler que les outils strictement nécessaires à son rôle. Toute tentative hors périmètre est refusée par le serveur.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309360" y="397764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6583680" y="4160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Exemple — agent KPI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675120" y="4526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profile_dataset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suggest_kpis  ·  compute_kpis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detect_anomalies  ·  compare_segments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moteur déterministe adaptatif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920240"/>
            <a:ext cx="777240" cy="77724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9578" y="21067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2004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de chaque colonne : mesure, dimension, date, géo, identifiant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127248" y="1691640"/>
            <a:ext cx="365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456432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0832" y="1920240"/>
            <a:ext cx="777240" cy="77724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370" y="210677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6432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KPIs adaptatifs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39312" y="32004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Totaux, moyennes, tendances, parts — déduits des rôles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035040" y="1691640"/>
            <a:ext cx="365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6364224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78624" y="1920240"/>
            <a:ext cx="777240" cy="77724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162" y="2106778"/>
            <a:ext cx="404165" cy="4041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64224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Graphiques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547104" y="32004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Tendances, barres, distributions, carte, corrélations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942832" y="1691640"/>
            <a:ext cx="365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22" name="Shape 17"/>
          <p:cNvSpPr/>
          <p:nvPr/>
        </p:nvSpPr>
        <p:spPr>
          <a:xfrm>
            <a:off x="9272016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186416" y="1920240"/>
            <a:ext cx="777240" cy="77724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2954" y="2106778"/>
            <a:ext cx="404165" cy="40416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72016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454896" y="32004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Anomalies, comparaisons de segments, corrélations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42976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AF7F4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868680" y="44805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bonne division du travail. 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moteur déterministe garantit l'exactitude et la généralité ; les agents (LLM) apportent le jugement, la curation et la narration. Aucun chiffre n'est inventé par le modèle.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Fiabilité : la confiance avant tout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83080" y="2148840"/>
            <a:ext cx="1051560" cy="105156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5454" y="2401214"/>
            <a:ext cx="546811" cy="5468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429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Filets de sécurité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93192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agent omet un appel d'outil, le pipeline le réalise lui-même : les livrables sont toujours complets.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15968" y="17830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50408" y="2148840"/>
            <a:ext cx="1051560" cy="105156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782" y="2401214"/>
            <a:ext cx="546811" cy="54681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15968" y="3429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Vérification des chiffres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90288" y="393192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nombre du rapport est confronté aux KPIs calculés — garde-fou anti-hallucination.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83296" y="17830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17736" y="2148840"/>
            <a:ext cx="1051560" cy="105156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110" y="2401214"/>
            <a:ext cx="546811" cy="54681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83296" y="3429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Suivi des coûts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57616" y="393192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Jetons, latence et coût estimé mesurés par agent et par exécution (observabilité).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filets de sécurité font du moteur déterministe le « filet de dernier recours » — une exécution réussit toujours.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Démonstration en direct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343400" cy="4160520"/>
          </a:xfrm>
          <a:prstGeom prst="roundRect">
            <a:avLst>
              <a:gd name="adj" fmla="val 1758"/>
            </a:avLst>
          </a:prstGeom>
          <a:solidFill>
            <a:srgbClr val="EAF7F4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 programme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48716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414016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Téléverser un jeu de données (CSV / Excel / JSON)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273552"/>
            <a:ext cx="457200" cy="45720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320040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en direct le pipeline des 7 agents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05993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398678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le tableau de bord &amp; la carte mondiale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846320"/>
            <a:ext cx="457200" cy="45720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773168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rapport décisionnel (chiffres vérifiés)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42636" y="1636776"/>
            <a:ext cx="2710688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pic>
        <p:nvPicPr>
          <p:cNvPr id="19" name="Image 0" descr="/Users/zakariae/Desktop/MCP-Powered BI Ecosystem/rapport/figures/fig_accue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0" y="1691640"/>
            <a:ext cx="2600960" cy="18288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905670" y="1636776"/>
            <a:ext cx="198542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pic>
        <p:nvPicPr>
          <p:cNvPr id="21" name="Image 1" descr="/Users/zakariae/Desktop/MCP-Powered BI Ecosystem/rapport/figures/fig_pip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0534" y="1691640"/>
            <a:ext cx="1875692" cy="182880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342636" y="3785616"/>
            <a:ext cx="2710688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pic>
        <p:nvPicPr>
          <p:cNvPr id="23" name="Image 2" descr="/Users/zakariae/Desktop/MCP-Powered BI Ecosystem/rapport/figures/fig_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0" y="3840480"/>
            <a:ext cx="2600960" cy="18288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311896" y="4105656"/>
            <a:ext cx="3172968" cy="1457554"/>
          </a:xfrm>
          <a:prstGeom prst="roundRect">
            <a:avLst>
              <a:gd name="adj" fmla="val 3764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pic>
        <p:nvPicPr>
          <p:cNvPr id="25" name="Image 3" descr="/Users/zakariae/Desktop/MCP-Powered BI Ecosystem/rapport/figures/fig_car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4160520"/>
            <a:ext cx="3063240" cy="134782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66360" y="580644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Aperçus de l'application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Étude de cas : matchs internationaux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AF7F4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5564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17 769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24505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01568" y="1645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AF7F4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01568" y="175564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1872–2024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401568" y="24505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4496" y="1645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AF7F4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75564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254496" y="24505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tournois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07424" y="1645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AF7F4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175564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214 / 218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07424" y="24505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611880"/>
            <a:ext cx="731520" cy="73152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787445"/>
            <a:ext cx="380390" cy="38039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737360" y="3657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Aucune configuration — le système découvre seul la structure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737360" y="434340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mesures détectées : buts à domicile et à l'extérieur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colonnes géographiques : équipes reconnues comme des pays → carte mondiale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colonne date (séries temporelles) + plusieurs dimensions (tournoi, stade…)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insights pertinents, automatiquement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EAF7F4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Anomalie détectée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21284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Australie 31 – 0 Samoa américaines (2001), record du monde, isolé sans aucune connaissance métier.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26480" y="16002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EAF7F4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1874520"/>
            <a:ext cx="640080" cy="64008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699" y="2028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Avantage du terrain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32320" y="221284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 segments : 1,78 but à domicile contre 1,48 ailleurs — l'effet mesuré quantitativement.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93776" y="3374136"/>
            <a:ext cx="5956173" cy="1527048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pic>
        <p:nvPicPr>
          <p:cNvPr id="15" name="Image 2" descr="/Users/zakariae/Desktop/MCP-Powered BI Ecosystem/rapport/figures/fig_rapport_anomali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5846445" cy="14173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534656" y="3374136"/>
            <a:ext cx="4133088" cy="963168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pic>
        <p:nvPicPr>
          <p:cNvPr id="17" name="Image 3" descr="/Users/zakariae/Desktop/MCP-Powered BI Ecosystem/rapport/figures/fig_rapport_find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429000"/>
            <a:ext cx="4023360" cy="8534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34656" y="4355592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vérifiés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93776" y="5020056"/>
            <a:ext cx="4538669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pic>
        <p:nvPicPr>
          <p:cNvPr id="20" name="Image 4" descr="/Users/zakariae/Desktop/MCP-Powered BI Ecosystem/rapport/figures/fig_rapport_segm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074920"/>
            <a:ext cx="4428941" cy="11887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: 22 tests automatisés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0F2A30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14884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/ 22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4206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 vert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90195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18745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Profilage des rôles de colonnes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468880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3440" y="24414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du serveur MCP (refus hors périmètre)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035808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3440" y="300837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des chiffres (7 tests)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3602736"/>
            <a:ext cx="310896" cy="3108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663440" y="357530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 des agents (retry-with-nudge)</a:t>
            </a:r>
            <a:endParaRPr lang="en-US" sz="1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4169664"/>
            <a:ext cx="310896" cy="31089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663440" y="41422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géographique &amp; carte</a:t>
            </a:r>
            <a:endParaRPr lang="en-US" sz="14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0" y="4736592"/>
            <a:ext cx="310896" cy="31089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663440" y="47091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&amp; comparaison de segments</a:t>
            </a:r>
            <a:endParaRPr lang="en-US" sz="1400" dirty="0"/>
          </a:p>
        </p:txBody>
      </p:sp>
      <p:sp>
        <p:nvSpPr>
          <p:cNvPr id="20" name="Text 11"/>
          <p:cNvSpPr/>
          <p:nvPr/>
        </p:nvSpPr>
        <p:spPr>
          <a:xfrm>
            <a:off x="4206240" y="54406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sans LLM → rapides, reproductibles ; un client « fictif » simule les défaillances d'agents.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perspectives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93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Bilan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 généraliste et automatisée, fonctionnelle de bout en bout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déterministe + 7 agents orchestrés par MCP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rapport (web &amp; PDF) reproductibles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: filets, vérification des chiffres, suivi des coûts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Validée sur 17 769 matchs réels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EAF7F4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88900" dist="38100" dir="5400000">
              <a:srgbClr val="0F2A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965960"/>
            <a:ext cx="640080" cy="640080"/>
          </a:xfrm>
          <a:prstGeom prst="ellipse">
            <a:avLst/>
          </a:prstGeom>
          <a:solidFill>
            <a:srgbClr val="D1FA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59" y="21195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93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269748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Interrogation en langage naturel (analyste conversationnel)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Connecteurs de données : bases SQL, jointures multi-sources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prédictives (prévision de séries temporelles)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Industrialisation : conteneurisation, multi-utilisateurs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akariae/Desktop/MCP-Powered BI Ecosystem/rapport/assets/entete_f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7200"/>
            <a:ext cx="1752996" cy="868680"/>
          </a:xfrm>
          <a:prstGeom prst="rect">
            <a:avLst/>
          </a:prstGeom>
        </p:spPr>
      </p:pic>
      <p:pic>
        <p:nvPicPr>
          <p:cNvPr id="3" name="Image 1" descr="/Users/zakariae/Desktop/MCP-Powered BI Ecosystem/rapport/assets/logo_ens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292608"/>
            <a:ext cx="1185428" cy="1280160"/>
          </a:xfrm>
          <a:prstGeom prst="rect">
            <a:avLst/>
          </a:prstGeom>
        </p:spPr>
      </p:pic>
      <p:pic>
        <p:nvPicPr>
          <p:cNvPr id="4" name="Image 2" descr="/Users/zakariae/Desktop/MCP-Powered BI Ecosystem/rapport/assets/entete_ara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457200"/>
            <a:ext cx="1789481" cy="8686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2697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de votre attention</a:t>
            </a:r>
            <a:endParaRPr lang="en-US" sz="4200" dirty="0"/>
          </a:p>
        </p:txBody>
      </p:sp>
      <p:sp>
        <p:nvSpPr>
          <p:cNvPr id="6" name="Text 1"/>
          <p:cNvSpPr/>
          <p:nvPr/>
        </p:nvSpPr>
        <p:spPr>
          <a:xfrm>
            <a:off x="548640" y="3611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900" dirty="0"/>
          </a:p>
        </p:txBody>
      </p:sp>
      <p:sp>
        <p:nvSpPr>
          <p:cNvPr id="7" name="Shape 2"/>
          <p:cNvSpPr/>
          <p:nvPr/>
        </p:nvSpPr>
        <p:spPr>
          <a:xfrm>
            <a:off x="4480560" y="4297680"/>
            <a:ext cx="3227832" cy="25603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3"/>
          <p:cNvSpPr/>
          <p:nvPr/>
        </p:nvSpPr>
        <p:spPr>
          <a:xfrm>
            <a:off x="548640" y="46177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pPr algn="ctr" indent="0" marL="0">
              <a:buNone/>
            </a:pPr>
            <a:r>
              <a:rPr lang="en-US" sz="14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Rouane  •  Zakariae Trachni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548640" y="5029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</a:t>
            </a:r>
            <a:pPr algn="ctr" indent="0" marL="0">
              <a:buNone/>
            </a:pPr>
            <a:r>
              <a:rPr lang="en-US" sz="14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Abdelmounaim Kerkri</a:t>
            </a:r>
            <a:pPr algn="ctr"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Membre du jury : </a:t>
            </a:r>
            <a:pPr algn="ctr" indent="0" marL="0">
              <a:buNone/>
            </a:pPr>
            <a:r>
              <a:rPr lang="en-US" sz="14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Asmae El Mezouari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PFA — MCP-Powered BI Ecosystem</dc:title>
  <dc:subject>PptxGenJS Presentation</dc:subject>
  <dc:creator>Mohamed Rouane &amp; Zakariae Trachni</dc:creator>
  <cp:lastModifiedBy>Mohamed Rouane &amp; Zakariae Trachni</cp:lastModifiedBy>
  <cp:revision>1</cp:revision>
  <dcterms:created xsi:type="dcterms:W3CDTF">2026-06-21T22:14:11Z</dcterms:created>
  <dcterms:modified xsi:type="dcterms:W3CDTF">2026-06-21T22:14:11Z</dcterms:modified>
</cp:coreProperties>
</file>